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Cormorant Garamond" panose="02010600030101010101" charset="0"/>
      <p:regular r:id="rId11"/>
      <p:bold r:id="rId12"/>
      <p:italic r:id="rId13"/>
      <p:boldItalic r:id="rId14"/>
    </p:embeddedFont>
    <p:embeddedFont>
      <p:font typeface="Inter" panose="02010600030101010101" charset="0"/>
      <p:regular r:id="rId15"/>
      <p:bold r:id="rId16"/>
      <p:italic r:id="rId17"/>
      <p:boldItalic r:id="rId18"/>
    </p:embeddedFont>
    <p:embeddedFont>
      <p:font typeface="Inter SemiBold" panose="02010600030101010101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E6B0EED-9157-4E13-BB66-EC7FDB1CB839}">
  <a:tblStyle styleId="{EE6B0EED-9157-4E13-BB66-EC7FDB1CB83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84" y="2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E0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762000" y="3004244"/>
            <a:ext cx="5095875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5" b="1" i="0" u="none" strike="noStrike" cap="none">
                <a:solidFill>
                  <a:srgbClr val="801C34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100%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762000" y="4432994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2B26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现场深度互动率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6334125" y="3004244"/>
            <a:ext cx="5350668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2B2627"/>
                </a:solidFill>
                <a:latin typeface="Arial"/>
                <a:ea typeface="Arial"/>
                <a:cs typeface="Arial"/>
                <a:sym typeface="Arial"/>
              </a:rPr>
              <a:t>从说教到“体验式产品化”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6334125" y="3509069"/>
            <a:ext cx="50958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5C5253"/>
                </a:solidFill>
                <a:latin typeface="Inter"/>
                <a:ea typeface="Inter"/>
                <a:cs typeface="Inter"/>
                <a:sym typeface="Inter"/>
              </a:rPr>
              <a:t>机制重组</a:t>
            </a:r>
            <a:r>
              <a:rPr lang="en-US" sz="1200" b="0" i="0" u="none" strike="noStrike" cap="none">
                <a:solidFill>
                  <a:srgbClr val="5C5253"/>
                </a:solidFill>
                <a:latin typeface="Inter"/>
                <a:ea typeface="Inter"/>
                <a:cs typeface="Inter"/>
                <a:sym typeface="Inter"/>
              </a:rPr>
              <a:t>：告别流于形式的传统读书会，通过4人限制性剧本游戏机制，将生硬的心理学及文学理论，转化为人人浸润的现场情感投射。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6334125" y="4110930"/>
            <a:ext cx="50958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5C5253"/>
                </a:solidFill>
                <a:latin typeface="Inter"/>
                <a:ea typeface="Inter"/>
                <a:cs typeface="Inter"/>
                <a:sym typeface="Inter"/>
              </a:rPr>
              <a:t>私域撬动</a:t>
            </a:r>
            <a:r>
              <a:rPr lang="en-US" sz="1200" b="0" i="0" u="none" strike="noStrike" cap="none">
                <a:solidFill>
                  <a:srgbClr val="5C5253"/>
                </a:solidFill>
                <a:latin typeface="Inter"/>
                <a:ea typeface="Inter"/>
                <a:cs typeface="Inter"/>
                <a:sym typeface="Inter"/>
              </a:rPr>
              <a:t>：凭借活动中《人类识别指南》精细内容沉淀（1.2w字深度文本），实现活动粉丝全量引流社团，为私域池提供高频裂变钩子。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52500" y="571500"/>
            <a:ext cx="1100137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2B2627"/>
                </a:solidFill>
                <a:latin typeface="Arial"/>
                <a:ea typeface="Arial"/>
                <a:cs typeface="Arial"/>
                <a:sym typeface="Arial"/>
              </a:rPr>
              <a:t>打破教说：高含金量数据看板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762000" y="571500"/>
            <a:ext cx="47625" cy="485775"/>
          </a:xfrm>
          <a:prstGeom prst="rect">
            <a:avLst/>
          </a:prstGeom>
          <a:solidFill>
            <a:srgbClr val="801C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869108"/>
            <a:ext cx="5095875" cy="2034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869108"/>
            <a:ext cx="5095875" cy="203418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1152525" y="3259633"/>
            <a:ext cx="453056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01C34"/>
                </a:solidFill>
                <a:latin typeface="Arial"/>
                <a:ea typeface="Arial"/>
                <a:cs typeface="Arial"/>
                <a:sym typeface="Arial"/>
              </a:rPr>
              <a:t>Z世代情感痛点 (Pain Point)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1152525" y="3735883"/>
            <a:ext cx="4314825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5C5253"/>
                </a:solidFill>
                <a:latin typeface="Inter"/>
                <a:ea typeface="Inter"/>
                <a:cs typeface="Inter"/>
                <a:sym typeface="Inter"/>
              </a:rPr>
              <a:t>当下青年群体面对“亲密关系”普遍存在社交焦虑与表达失语。而传统的高校读书会定位死板、互动匮乏、说教意味浓重，导致用户难以深度卷入，最终参与感低下。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724650" y="3259633"/>
            <a:ext cx="453056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01C34"/>
                </a:solidFill>
                <a:latin typeface="Arial"/>
                <a:ea typeface="Arial"/>
                <a:cs typeface="Arial"/>
                <a:sym typeface="Arial"/>
              </a:rPr>
              <a:t>游戏化内容破局 (Solution)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724650" y="3735883"/>
            <a:ext cx="4314825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5C5253"/>
                </a:solidFill>
                <a:latin typeface="Inter"/>
                <a:ea typeface="Inter"/>
                <a:cs typeface="Inter"/>
                <a:sym typeface="Inter"/>
              </a:rPr>
              <a:t>以奥斯卡级大作《犬之力》为引爆物，将复杂的异性恋脚本、弗洛伊德攻击行为理论，重组为“选择命运判定游戏”，用低门槛、高沉浸的玩法彻底激活参与意愿。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952500" y="571500"/>
            <a:ext cx="1100137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2B2627"/>
                </a:solidFill>
                <a:latin typeface="Arial"/>
                <a:ea typeface="Arial"/>
                <a:cs typeface="Arial"/>
                <a:sym typeface="Arial"/>
              </a:rPr>
              <a:t>用户痛点洞察与破局方案</a:t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762000" y="571500"/>
            <a:ext cx="47625" cy="485775"/>
          </a:xfrm>
          <a:prstGeom prst="rect">
            <a:avLst/>
          </a:prstGeom>
          <a:solidFill>
            <a:srgbClr val="801C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366962"/>
            <a:ext cx="3333750" cy="303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29125" y="2366962"/>
            <a:ext cx="3333750" cy="303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6250" y="2366962"/>
            <a:ext cx="3333750" cy="3038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1104900" y="3300412"/>
            <a:ext cx="194305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801C34"/>
                </a:solidFill>
                <a:latin typeface="Arial"/>
                <a:ea typeface="Arial"/>
                <a:cs typeface="Arial"/>
                <a:sym typeface="Arial"/>
              </a:rPr>
              <a:t>哥哥 · 菲尔 (Phil)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1104900" y="3748087"/>
            <a:ext cx="26479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6E6566"/>
                </a:solidFill>
                <a:latin typeface="Inter"/>
                <a:ea typeface="Inter"/>
                <a:cs typeface="Inter"/>
                <a:sym typeface="Inter"/>
              </a:rPr>
              <a:t>压抑的深柜牛仔。</a:t>
            </a:r>
            <a:r>
              <a:rPr lang="en-US" sz="1125" b="0" i="0" u="none" strike="noStrike" cap="none">
                <a:solidFill>
                  <a:srgbClr val="6E6566"/>
                </a:solidFill>
                <a:latin typeface="Inter"/>
                <a:ea typeface="Inter"/>
                <a:cs typeface="Inter"/>
                <a:sym typeface="Inter"/>
              </a:rPr>
              <a:t> 耶鲁高材生，却用暴虐与控制伪装自我的身份认同。在执念中对抗宿命，最终死于彼得冷酷的“温柔陷阱”。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4772025" y="3300412"/>
            <a:ext cx="23037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801C34"/>
                </a:solidFill>
                <a:latin typeface="Arial"/>
                <a:ea typeface="Arial"/>
                <a:cs typeface="Arial"/>
                <a:sym typeface="Arial"/>
              </a:rPr>
              <a:t>弟弟 · 乔治 (George)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4772025" y="3748087"/>
            <a:ext cx="26479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6E6566"/>
                </a:solidFill>
                <a:latin typeface="Inter"/>
                <a:ea typeface="Inter"/>
                <a:cs typeface="Inter"/>
                <a:sym typeface="Inter"/>
              </a:rPr>
              <a:t>软弱的家庭守护。</a:t>
            </a:r>
            <a:r>
              <a:rPr lang="en-US" sz="1125" b="0" i="0" u="none" strike="noStrike" cap="none">
                <a:solidFill>
                  <a:srgbClr val="6E6566"/>
                </a:solidFill>
                <a:latin typeface="Inter"/>
                <a:ea typeface="Inter"/>
                <a:cs typeface="Inter"/>
                <a:sym typeface="Inter"/>
              </a:rPr>
              <a:t> 用模仿上流阶级抗衡菲尔的霸凌，试图以沉默和温柔挽救爱人，却对菲尔一生的精神痛苦一无所知。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439150" y="3300412"/>
            <a:ext cx="278034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801C34"/>
                </a:solidFill>
                <a:latin typeface="Arial"/>
                <a:ea typeface="Arial"/>
                <a:cs typeface="Arial"/>
                <a:sym typeface="Arial"/>
              </a:rPr>
              <a:t>妻子与儿子 (Rose &amp; Peter)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439150" y="4033837"/>
            <a:ext cx="26479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6E6566"/>
                </a:solidFill>
                <a:latin typeface="Inter"/>
                <a:ea typeface="Inter"/>
                <a:cs typeface="Inter"/>
                <a:sym typeface="Inter"/>
              </a:rPr>
              <a:t>理智弑神的终极博弈。</a:t>
            </a:r>
            <a:r>
              <a:rPr lang="en-US" sz="1125" b="0" i="0" u="none" strike="noStrike" cap="none">
                <a:solidFill>
                  <a:srgbClr val="6E6566"/>
                </a:solidFill>
                <a:latin typeface="Inter"/>
                <a:ea typeface="Inter"/>
                <a:cs typeface="Inter"/>
                <a:sym typeface="Inter"/>
              </a:rPr>
              <a:t> 萝丝抑郁走向酗酒，而彼得用绝对的冷静设局杀戮，编织恶性炭疽绳索，以恶抗恶，解救母亲脱离男权熔炉。</a:t>
            </a:r>
            <a:endParaRPr/>
          </a:p>
        </p:txBody>
      </p:sp>
      <p:pic>
        <p:nvPicPr>
          <p:cNvPr id="125" name="Google Shape;12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04900" y="2738437"/>
            <a:ext cx="266848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72025" y="2738437"/>
            <a:ext cx="266848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39150" y="2738437"/>
            <a:ext cx="266848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952500" y="571500"/>
            <a:ext cx="1100137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2B2627"/>
                </a:solidFill>
                <a:latin typeface="Arial"/>
                <a:ea typeface="Arial"/>
                <a:cs typeface="Arial"/>
                <a:sym typeface="Arial"/>
              </a:rPr>
              <a:t>游戏化剧本：“4人抉择机制”</a:t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762000" y="571500"/>
            <a:ext cx="47625" cy="485775"/>
          </a:xfrm>
          <a:prstGeom prst="rect">
            <a:avLst/>
          </a:prstGeom>
          <a:solidFill>
            <a:srgbClr val="801C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952500" y="571500"/>
            <a:ext cx="540067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2B2627"/>
                </a:solidFill>
                <a:latin typeface="Arial"/>
                <a:ea typeface="Arial"/>
                <a:cs typeface="Arial"/>
                <a:sym typeface="Arial"/>
              </a:rPr>
              <a:t>核心意象与文学映射</a:t>
            </a: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762000" y="571500"/>
            <a:ext cx="47625" cy="485775"/>
          </a:xfrm>
          <a:prstGeom prst="rect">
            <a:avLst/>
          </a:prstGeom>
          <a:solidFill>
            <a:srgbClr val="801C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762000" y="2992040"/>
            <a:ext cx="56007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801C34"/>
                </a:solidFill>
                <a:latin typeface="Arial"/>
                <a:ea typeface="Arial"/>
                <a:cs typeface="Arial"/>
                <a:sym typeface="Arial"/>
              </a:rPr>
              <a:t>玫瑰、犬与镜子的“深渊”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762000" y="3439715"/>
            <a:ext cx="53340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5C5253"/>
                </a:solidFill>
                <a:latin typeface="Inter"/>
                <a:ea typeface="Inter"/>
                <a:cs typeface="Inter"/>
                <a:sym typeface="Inter"/>
              </a:rPr>
              <a:t>犬之力 (Power of the Dog)</a:t>
            </a:r>
            <a:r>
              <a:rPr lang="en-US" sz="1200" b="0" i="0" u="none" strike="noStrike" cap="none">
                <a:solidFill>
                  <a:srgbClr val="5C5253"/>
                </a:solidFill>
                <a:latin typeface="Inter"/>
                <a:ea typeface="Inter"/>
                <a:cs typeface="Inter"/>
                <a:sym typeface="Inter"/>
              </a:rPr>
              <a:t>：只有同属边缘人的彼得和菲尔，能看出远山“张大嘴巴的狂吠之犬”，喻示同类本性的本能识别，暗潮涌动。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762000" y="4110037"/>
            <a:ext cx="53340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5C5253"/>
                </a:solidFill>
                <a:latin typeface="Inter"/>
                <a:ea typeface="Inter"/>
                <a:cs typeface="Inter"/>
                <a:sym typeface="Inter"/>
              </a:rPr>
              <a:t>玫瑰与死亡</a:t>
            </a:r>
            <a:r>
              <a:rPr lang="en-US" sz="1200" b="0" i="0" u="none" strike="noStrike" cap="none">
                <a:solidFill>
                  <a:srgbClr val="5C5253"/>
                </a:solidFill>
                <a:latin typeface="Inter"/>
                <a:ea typeface="Inter"/>
                <a:cs typeface="Inter"/>
                <a:sym typeface="Inter"/>
              </a:rPr>
              <a:t>：</a:t>
            </a:r>
            <a:r>
              <a:rPr lang="en-US" sz="1200" b="0" i="1" u="none" strike="noStrike" cap="none">
                <a:solidFill>
                  <a:srgbClr val="5C5253"/>
                </a:solidFill>
                <a:latin typeface="Inter"/>
                <a:ea typeface="Inter"/>
                <a:cs typeface="Inter"/>
                <a:sym typeface="Inter"/>
              </a:rPr>
              <a:t>“玫瑰的死亡更具吸引力，美不仅是完整的，美也是悲伤与逝去。”</a:t>
            </a:r>
            <a:r>
              <a:rPr lang="en-US" sz="1200" b="0" i="0" u="none" strike="noStrike" cap="none">
                <a:solidFill>
                  <a:srgbClr val="5C5253"/>
                </a:solidFill>
                <a:latin typeface="Inter"/>
                <a:ea typeface="Inter"/>
                <a:cs typeface="Inter"/>
                <a:sym typeface="Inter"/>
              </a:rPr>
              <a:t> 用西尔维亚·普拉斯与菲茨杰拉德的悲剧文本，解构影片中的极致爱恨。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E0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>
            <a:off x="1951136" y="2844105"/>
            <a:ext cx="8289577" cy="579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3F0DF"/>
                </a:solidFill>
                <a:latin typeface="Arial"/>
                <a:ea typeface="Arial"/>
                <a:cs typeface="Arial"/>
                <a:sym typeface="Arial"/>
              </a:rPr>
              <a:t>“既想束紧纽带，又想让它松脱。”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3443138" y="3775620"/>
            <a:ext cx="53054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79B4E"/>
                </a:solidFill>
                <a:latin typeface="Arial"/>
                <a:ea typeface="Arial"/>
                <a:cs typeface="Arial"/>
                <a:sym typeface="Arial"/>
              </a:rPr>
              <a:t>—— 现代人身处亲密关系洪流中的终极矛盾、依赖与挣扎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1379636" y="3129855"/>
            <a:ext cx="507355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3D1B22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10304856" y="3518445"/>
            <a:ext cx="507355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3D1B22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5" name="Google Shape;155;p19"/>
          <p:cNvGraphicFramePr/>
          <p:nvPr/>
        </p:nvGraphicFramePr>
        <p:xfrm>
          <a:off x="762000" y="2317551"/>
          <a:ext cx="10668000" cy="3137100"/>
        </p:xfrm>
        <a:graphic>
          <a:graphicData uri="http://schemas.openxmlformats.org/drawingml/2006/table">
            <a:tbl>
              <a:tblPr firstRow="1" bandRow="1">
                <a:noFill/>
                <a:tableStyleId>{EE6B0EED-9157-4E13-BB66-EC7FDB1CB839}</a:tableStyleId>
              </a:tblPr>
              <a:tblGrid>
                <a:gridCol w="194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2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3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4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2B26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运营阶段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2B26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核心动作 (Action)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2B26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核心产出与指标 (KPI)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4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5C525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 预热期 (Pre-heat)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5C525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Z世代痛点共鸣文案策划，在QQ社群、微信社群等精准圈层精准裂变发布。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5C525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成功招募 </a:t>
                      </a:r>
                      <a:r>
                        <a:rPr lang="en-US" sz="1200" b="1" i="0" u="none" strike="noStrike" cap="none">
                          <a:solidFill>
                            <a:srgbClr val="5C525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50+</a:t>
                      </a:r>
                      <a:r>
                        <a:rPr lang="en-US" sz="1200" b="0" i="0" u="none" strike="noStrike" cap="none">
                          <a:solidFill>
                            <a:srgbClr val="5C525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深度兴趣用户，到场率 </a:t>
                      </a:r>
                      <a:r>
                        <a:rPr lang="en-US" sz="1200" b="1" i="0" u="none" strike="noStrike" cap="none">
                          <a:solidFill>
                            <a:srgbClr val="5C525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95%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4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5C525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2. 现场期 (Execution)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5C525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游戏化破冰、现场抽取“人物问题卡牌”、互动机制穿插引导讨论。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5C525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讨论现场发言率 </a:t>
                      </a:r>
                      <a:r>
                        <a:rPr lang="en-US" sz="1200" b="1" i="0" u="none" strike="noStrike" cap="none">
                          <a:solidFill>
                            <a:srgbClr val="5C525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100%</a:t>
                      </a:r>
                      <a:r>
                        <a:rPr lang="en-US" sz="1200" b="0" i="0" u="none" strike="noStrike" cap="none">
                          <a:solidFill>
                            <a:srgbClr val="5C525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，提问互动量 </a:t>
                      </a:r>
                      <a:r>
                        <a:rPr lang="en-US" sz="1200" b="1" i="0" u="none" strike="noStrike" cap="none">
                          <a:solidFill>
                            <a:srgbClr val="5C525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15+ 人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4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5C525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3. 沉淀期 (Retention)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5C525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深度复盘、产出 </a:t>
                      </a:r>
                      <a:r>
                        <a:rPr lang="en-US" sz="1200" b="1" i="0" u="none" strike="noStrike" cap="none">
                          <a:solidFill>
                            <a:srgbClr val="5C525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1.2万字</a:t>
                      </a:r>
                      <a:r>
                        <a:rPr lang="en-US" sz="1200" b="0" i="0" u="none" strike="noStrike" cap="none">
                          <a:solidFill>
                            <a:srgbClr val="5C525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会后讨论纪要，沉淀为高黏性内容资产。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5C525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多渠道内容输出，反哺社团社群流量裂变。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6" name="Google Shape;156;p19"/>
          <p:cNvSpPr/>
          <p:nvPr/>
        </p:nvSpPr>
        <p:spPr>
          <a:xfrm>
            <a:off x="762000" y="2929979"/>
            <a:ext cx="1941165" cy="9525"/>
          </a:xfrm>
          <a:prstGeom prst="rect">
            <a:avLst/>
          </a:prstGeom>
          <a:solidFill>
            <a:srgbClr val="E9E5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2703165" y="2929979"/>
            <a:ext cx="5412878" cy="9525"/>
          </a:xfrm>
          <a:prstGeom prst="rect">
            <a:avLst/>
          </a:prstGeom>
          <a:solidFill>
            <a:srgbClr val="E9E5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8116044" y="2929979"/>
            <a:ext cx="3313955" cy="9525"/>
          </a:xfrm>
          <a:prstGeom prst="rect">
            <a:avLst/>
          </a:prstGeom>
          <a:solidFill>
            <a:srgbClr val="E9E5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762000" y="3769965"/>
            <a:ext cx="1941165" cy="9525"/>
          </a:xfrm>
          <a:prstGeom prst="rect">
            <a:avLst/>
          </a:prstGeom>
          <a:solidFill>
            <a:srgbClr val="E9E5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2703165" y="3769965"/>
            <a:ext cx="5412878" cy="9525"/>
          </a:xfrm>
          <a:prstGeom prst="rect">
            <a:avLst/>
          </a:prstGeom>
          <a:solidFill>
            <a:srgbClr val="E9E5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8116044" y="3769965"/>
            <a:ext cx="3313955" cy="9525"/>
          </a:xfrm>
          <a:prstGeom prst="rect">
            <a:avLst/>
          </a:prstGeom>
          <a:solidFill>
            <a:srgbClr val="E9E5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762000" y="4609951"/>
            <a:ext cx="1941165" cy="9525"/>
          </a:xfrm>
          <a:prstGeom prst="rect">
            <a:avLst/>
          </a:prstGeom>
          <a:solidFill>
            <a:srgbClr val="E9E5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2703165" y="4609951"/>
            <a:ext cx="5412878" cy="9525"/>
          </a:xfrm>
          <a:prstGeom prst="rect">
            <a:avLst/>
          </a:prstGeom>
          <a:solidFill>
            <a:srgbClr val="E9E5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8116044" y="4609951"/>
            <a:ext cx="3313955" cy="9525"/>
          </a:xfrm>
          <a:prstGeom prst="rect">
            <a:avLst/>
          </a:prstGeom>
          <a:solidFill>
            <a:srgbClr val="E9E5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952500" y="571500"/>
            <a:ext cx="1100137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2B2627"/>
                </a:solidFill>
                <a:latin typeface="Arial"/>
                <a:ea typeface="Arial"/>
                <a:cs typeface="Arial"/>
                <a:sym typeface="Arial"/>
              </a:rPr>
              <a:t>全链路运营：预热至资产沉淀</a:t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762000" y="571500"/>
            <a:ext cx="47625" cy="485775"/>
          </a:xfrm>
          <a:prstGeom prst="rect">
            <a:avLst/>
          </a:prstGeom>
          <a:solidFill>
            <a:srgbClr val="801C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E0F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4110037"/>
            <a:ext cx="10648950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505301" y="2224087"/>
            <a:ext cx="1118139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3F0DF"/>
                </a:solidFill>
                <a:latin typeface="Arial"/>
                <a:ea typeface="Arial"/>
                <a:cs typeface="Arial"/>
                <a:sym typeface="Arial"/>
              </a:rPr>
              <a:t>用数据与理性，让好内容破圈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771525" y="3376612"/>
            <a:ext cx="10648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39698"/>
                </a:solidFill>
                <a:latin typeface="Inter"/>
                <a:ea typeface="Inter"/>
                <a:cs typeface="Inter"/>
                <a:sym typeface="Inter"/>
              </a:rPr>
              <a:t>感谢您的观看。期待与您共同打磨高价值内容产品！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5191273" y="4424362"/>
            <a:ext cx="43904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39698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|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7138689" y="4424362"/>
            <a:ext cx="43904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39698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|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270</Words>
  <Application>Microsoft Office PowerPoint</Application>
  <PresentationFormat>宽屏</PresentationFormat>
  <Paragraphs>43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Arial</vt:lpstr>
      <vt:lpstr>Inter</vt:lpstr>
      <vt:lpstr>Inter SemiBold</vt:lpstr>
      <vt:lpstr>Calibri</vt:lpstr>
      <vt:lpstr>Cormorant Garamond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童琳 诸葛</cp:lastModifiedBy>
  <cp:revision>2</cp:revision>
  <dcterms:modified xsi:type="dcterms:W3CDTF">2026-06-02T08:20:32Z</dcterms:modified>
</cp:coreProperties>
</file>